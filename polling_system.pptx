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99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926994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858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3330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1742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379588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473146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114268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681098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72074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1/28/2026</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496074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1/28/2026</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338715031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6AEE0A40-9290-3579-E831-EE4724108A33}"/>
              </a:ext>
            </a:extLst>
          </p:cNvPr>
          <p:cNvPicPr>
            <a:picLocks noChangeAspect="1"/>
          </p:cNvPicPr>
          <p:nvPr/>
        </p:nvPicPr>
        <p:blipFill>
          <a:blip r:embed="rId2">
            <a:alphaModFix/>
          </a:blip>
          <a:srcRect t="13553" b="2823"/>
          <a:stretch>
            <a:fillRect/>
          </a:stretch>
        </p:blipFill>
        <p:spPr>
          <a:xfrm>
            <a:off x="20" y="1571"/>
            <a:ext cx="12191980" cy="6856429"/>
          </a:xfrm>
          <a:prstGeom prst="rect">
            <a:avLst/>
          </a:prstGeom>
        </p:spPr>
      </p:pic>
      <p:sp>
        <p:nvSpPr>
          <p:cNvPr id="17" name="Freeform: Shape 16">
            <a:extLst>
              <a:ext uri="{FF2B5EF4-FFF2-40B4-BE49-F238E27FC236}">
                <a16:creationId xmlns:a16="http://schemas.microsoft.com/office/drawing/2014/main" id="{CEB96CAC-5A33-8303-9C73-1B3220A5D3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524" y="125034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gradFill>
            <a:gsLst>
              <a:gs pos="0">
                <a:schemeClr val="accent1">
                  <a:lumMod val="60000"/>
                  <a:lumOff val="40000"/>
                  <a:alpha val="20000"/>
                </a:schemeClr>
              </a:gs>
              <a:gs pos="7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D6BF16-A549-DF43-2158-11B262DEBEDE}"/>
              </a:ext>
            </a:extLst>
          </p:cNvPr>
          <p:cNvSpPr>
            <a:spLocks noGrp="1"/>
          </p:cNvSpPr>
          <p:nvPr>
            <p:ph type="ctrTitle"/>
          </p:nvPr>
        </p:nvSpPr>
        <p:spPr>
          <a:xfrm>
            <a:off x="1280159" y="2211977"/>
            <a:ext cx="3535679" cy="1450961"/>
          </a:xfrm>
        </p:spPr>
        <p:txBody>
          <a:bodyPr anchor="b">
            <a:normAutofit/>
          </a:bodyPr>
          <a:lstStyle/>
          <a:p>
            <a:r>
              <a:rPr lang="en-US" sz="2500" b="0" dirty="0"/>
              <a:t>Dynamic </a:t>
            </a:r>
            <a:r>
              <a:rPr lang="en-US" sz="2500" b="0" dirty="0" err="1"/>
              <a:t>PollinG</a:t>
            </a:r>
            <a:endParaRPr lang="en-US" sz="2500" dirty="0"/>
          </a:p>
        </p:txBody>
      </p:sp>
      <p:sp>
        <p:nvSpPr>
          <p:cNvPr id="3" name="Subtitle 2">
            <a:extLst>
              <a:ext uri="{FF2B5EF4-FFF2-40B4-BE49-F238E27FC236}">
                <a16:creationId xmlns:a16="http://schemas.microsoft.com/office/drawing/2014/main" id="{8ADDC1D5-91F0-0E38-412B-68F9E9FE4BF7}"/>
              </a:ext>
            </a:extLst>
          </p:cNvPr>
          <p:cNvSpPr>
            <a:spLocks noGrp="1"/>
          </p:cNvSpPr>
          <p:nvPr>
            <p:ph type="subTitle" idx="1"/>
          </p:nvPr>
        </p:nvSpPr>
        <p:spPr>
          <a:xfrm>
            <a:off x="1523998" y="4244336"/>
            <a:ext cx="3048000" cy="877585"/>
          </a:xfrm>
        </p:spPr>
        <p:txBody>
          <a:bodyPr>
            <a:normAutofit/>
          </a:bodyPr>
          <a:lstStyle/>
          <a:p>
            <a:pPr algn="ctr"/>
            <a:r>
              <a:rPr lang="en-US" dirty="0"/>
              <a:t>Engaging Users in Real-Time </a:t>
            </a:r>
          </a:p>
        </p:txBody>
      </p:sp>
      <p:cxnSp>
        <p:nvCxnSpPr>
          <p:cNvPr id="18" name="Straight Connector 17">
            <a:extLst>
              <a:ext uri="{FF2B5EF4-FFF2-40B4-BE49-F238E27FC236}">
                <a16:creationId xmlns:a16="http://schemas.microsoft.com/office/drawing/2014/main" id="{7454BE46-239F-BB50-4643-61FF5943B7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562423" y="395142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68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E7218290-08E7-4AB8-8549-F625B01F0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013B667-FDBE-FFE7-B746-A933187E6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407622"/>
            <a:ext cx="12191999" cy="5453467"/>
          </a:xfrm>
          <a:prstGeom prst="rect">
            <a:avLst/>
          </a:prstGeom>
          <a:gradFill>
            <a:gsLst>
              <a:gs pos="14000">
                <a:schemeClr val="accent1">
                  <a:lumMod val="60000"/>
                  <a:lumOff val="40000"/>
                  <a:alpha val="0"/>
                </a:schemeClr>
              </a:gs>
              <a:gs pos="92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DA0C58-4BCA-06E3-1DA0-F74479A55DA1}"/>
              </a:ext>
            </a:extLst>
          </p:cNvPr>
          <p:cNvSpPr>
            <a:spLocks noGrp="1"/>
          </p:cNvSpPr>
          <p:nvPr>
            <p:ph type="title"/>
          </p:nvPr>
        </p:nvSpPr>
        <p:spPr>
          <a:xfrm>
            <a:off x="952500" y="723900"/>
            <a:ext cx="5143500" cy="1181100"/>
          </a:xfrm>
        </p:spPr>
        <p:txBody>
          <a:bodyPr>
            <a:normAutofit/>
          </a:bodyPr>
          <a:lstStyle/>
          <a:p>
            <a:pPr>
              <a:lnSpc>
                <a:spcPct val="110000"/>
              </a:lnSpc>
            </a:pPr>
            <a:r>
              <a:rPr lang="en-US" sz="2200" dirty="0"/>
              <a:t>Purpose and Description of the Study</a:t>
            </a:r>
          </a:p>
        </p:txBody>
      </p:sp>
      <p:sp>
        <p:nvSpPr>
          <p:cNvPr id="3" name="Content Placeholder 2">
            <a:extLst>
              <a:ext uri="{FF2B5EF4-FFF2-40B4-BE49-F238E27FC236}">
                <a16:creationId xmlns:a16="http://schemas.microsoft.com/office/drawing/2014/main" id="{33348A16-A5B6-316C-3D4A-273CC4E09593}"/>
              </a:ext>
            </a:extLst>
          </p:cNvPr>
          <p:cNvSpPr>
            <a:spLocks noGrp="1"/>
          </p:cNvSpPr>
          <p:nvPr>
            <p:ph idx="1"/>
          </p:nvPr>
        </p:nvSpPr>
        <p:spPr>
          <a:xfrm>
            <a:off x="952500" y="2285997"/>
            <a:ext cx="4977245" cy="3890965"/>
          </a:xfrm>
        </p:spPr>
        <p:txBody>
          <a:bodyPr>
            <a:normAutofit/>
          </a:bodyPr>
          <a:lstStyle/>
          <a:p>
            <a:pPr marL="0" indent="0">
              <a:buNone/>
            </a:pPr>
            <a:r>
              <a:rPr lang="en-US" b="1"/>
              <a:t>Purpose of the Study</a:t>
            </a:r>
          </a:p>
          <a:p>
            <a:pPr lvl="1"/>
            <a:r>
              <a:rPr lang="en-US" b="0"/>
              <a:t>The primary purpose of this study is to address the limitations found in traditional classroom settings, specifically the lack of student participation and the delay in receiving feedback regarding student comprehension. By mitigating the fear of judgment that causes students to hesitate in asking questions , the study aims to bridge communication gaps and facilitate active participation. Ultimately, the project seeks to provide a solution for real-time, accessible, and informed instructional decision-making</a:t>
            </a:r>
          </a:p>
        </p:txBody>
      </p:sp>
      <p:sp>
        <p:nvSpPr>
          <p:cNvPr id="39" name="Freeform: Shape 38">
            <a:extLst>
              <a:ext uri="{FF2B5EF4-FFF2-40B4-BE49-F238E27FC236}">
                <a16:creationId xmlns:a16="http://schemas.microsoft.com/office/drawing/2014/main" id="{F086E331-35B6-B3DF-6734-407ACD078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8058" y="125034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lassroom">
            <a:extLst>
              <a:ext uri="{FF2B5EF4-FFF2-40B4-BE49-F238E27FC236}">
                <a16:creationId xmlns:a16="http://schemas.microsoft.com/office/drawing/2014/main" id="{71ED035C-62B9-F105-BFCD-CF1A066BA9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09682" y="2114332"/>
            <a:ext cx="2629336" cy="2629336"/>
          </a:xfrm>
          <a:prstGeom prst="rect">
            <a:avLst/>
          </a:prstGeom>
        </p:spPr>
      </p:pic>
    </p:spTree>
    <p:extLst>
      <p:ext uri="{BB962C8B-B14F-4D97-AF65-F5344CB8AC3E}">
        <p14:creationId xmlns:p14="http://schemas.microsoft.com/office/powerpoint/2010/main" val="2352898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775BE7-DF72-12F7-9365-AE03DF81E77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7218290-08E7-4AB8-8549-F625B01F0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013B667-FDBE-FFE7-B746-A933187E6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407622"/>
            <a:ext cx="12191999" cy="5453467"/>
          </a:xfrm>
          <a:prstGeom prst="rect">
            <a:avLst/>
          </a:prstGeom>
          <a:gradFill>
            <a:gsLst>
              <a:gs pos="14000">
                <a:schemeClr val="accent1">
                  <a:lumMod val="60000"/>
                  <a:lumOff val="40000"/>
                  <a:alpha val="0"/>
                </a:schemeClr>
              </a:gs>
              <a:gs pos="92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4CA2C9-7029-21C2-A4D0-3103815FB98F}"/>
              </a:ext>
            </a:extLst>
          </p:cNvPr>
          <p:cNvSpPr>
            <a:spLocks noGrp="1"/>
          </p:cNvSpPr>
          <p:nvPr>
            <p:ph type="title"/>
          </p:nvPr>
        </p:nvSpPr>
        <p:spPr>
          <a:xfrm>
            <a:off x="952500" y="723900"/>
            <a:ext cx="5143500" cy="1181100"/>
          </a:xfrm>
        </p:spPr>
        <p:txBody>
          <a:bodyPr>
            <a:normAutofit/>
          </a:bodyPr>
          <a:lstStyle/>
          <a:p>
            <a:pPr>
              <a:lnSpc>
                <a:spcPct val="110000"/>
              </a:lnSpc>
            </a:pPr>
            <a:r>
              <a:rPr lang="en-US" sz="2200" dirty="0"/>
              <a:t>Purpose and Description of the Study</a:t>
            </a:r>
          </a:p>
        </p:txBody>
      </p:sp>
      <p:sp>
        <p:nvSpPr>
          <p:cNvPr id="3" name="Content Placeholder 2">
            <a:extLst>
              <a:ext uri="{FF2B5EF4-FFF2-40B4-BE49-F238E27FC236}">
                <a16:creationId xmlns:a16="http://schemas.microsoft.com/office/drawing/2014/main" id="{E1F8F68F-CC0E-C641-4040-340F669FF0DB}"/>
              </a:ext>
            </a:extLst>
          </p:cNvPr>
          <p:cNvSpPr>
            <a:spLocks noGrp="1"/>
          </p:cNvSpPr>
          <p:nvPr>
            <p:ph idx="1"/>
          </p:nvPr>
        </p:nvSpPr>
        <p:spPr>
          <a:xfrm>
            <a:off x="952500" y="2285997"/>
            <a:ext cx="4977245" cy="3890965"/>
          </a:xfrm>
        </p:spPr>
        <p:txBody>
          <a:bodyPr>
            <a:normAutofit/>
          </a:bodyPr>
          <a:lstStyle/>
          <a:p>
            <a:pPr marL="0" indent="0">
              <a:lnSpc>
                <a:spcPct val="110000"/>
              </a:lnSpc>
              <a:buNone/>
            </a:pPr>
            <a:r>
              <a:rPr lang="en-US" sz="2000" b="1" dirty="0"/>
              <a:t>Description of the Proposed System</a:t>
            </a:r>
          </a:p>
          <a:p>
            <a:pPr marL="64008" lvl="2" indent="0" algn="just">
              <a:lnSpc>
                <a:spcPct val="110000"/>
              </a:lnSpc>
              <a:buNone/>
            </a:pPr>
            <a:r>
              <a:rPr lang="en-US" sz="1600" dirty="0"/>
              <a:t>	The proposed “Dynamic Polling" is a web-based interactive platform designed to facilitate real-time engagement between instructors and students. The system allows instructors to deploy live polls, quizzes, and feedback activities during or after class sessions. Students participate using their personal devices, with a key feature being anonymity to encourage honest interaction. The platform processes these inputs to provide instant visualization of responses through charts and analytics, enabling instructors to adjust their teaching strategies immediately.</a:t>
            </a:r>
          </a:p>
        </p:txBody>
      </p:sp>
      <p:sp>
        <p:nvSpPr>
          <p:cNvPr id="16" name="Freeform: Shape 15">
            <a:extLst>
              <a:ext uri="{FF2B5EF4-FFF2-40B4-BE49-F238E27FC236}">
                <a16:creationId xmlns:a16="http://schemas.microsoft.com/office/drawing/2014/main" id="{F086E331-35B6-B3DF-6734-407ACD078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8058" y="125034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lassroom">
            <a:extLst>
              <a:ext uri="{FF2B5EF4-FFF2-40B4-BE49-F238E27FC236}">
                <a16:creationId xmlns:a16="http://schemas.microsoft.com/office/drawing/2014/main" id="{263B0BBC-54A7-4D06-DCDD-100A95060D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09682" y="2114332"/>
            <a:ext cx="2629336" cy="2629336"/>
          </a:xfrm>
          <a:prstGeom prst="rect">
            <a:avLst/>
          </a:prstGeom>
        </p:spPr>
      </p:pic>
    </p:spTree>
    <p:extLst>
      <p:ext uri="{BB962C8B-B14F-4D97-AF65-F5344CB8AC3E}">
        <p14:creationId xmlns:p14="http://schemas.microsoft.com/office/powerpoint/2010/main" val="228617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98D9D-4FA1-1346-E9AA-8213AE3C0589}"/>
              </a:ext>
            </a:extLst>
          </p:cNvPr>
          <p:cNvSpPr>
            <a:spLocks noGrp="1"/>
          </p:cNvSpPr>
          <p:nvPr>
            <p:ph type="title"/>
          </p:nvPr>
        </p:nvSpPr>
        <p:spPr>
          <a:xfrm>
            <a:off x="209934" y="597679"/>
            <a:ext cx="10287000" cy="586746"/>
          </a:xfrm>
        </p:spPr>
        <p:txBody>
          <a:bodyPr/>
          <a:lstStyle/>
          <a:p>
            <a:r>
              <a:rPr lang="en-US" dirty="0"/>
              <a:t>Objectives of the System</a:t>
            </a:r>
          </a:p>
        </p:txBody>
      </p:sp>
      <p:sp>
        <p:nvSpPr>
          <p:cNvPr id="3" name="Content Placeholder 2">
            <a:extLst>
              <a:ext uri="{FF2B5EF4-FFF2-40B4-BE49-F238E27FC236}">
                <a16:creationId xmlns:a16="http://schemas.microsoft.com/office/drawing/2014/main" id="{19D72565-6FFF-0B59-FD45-F171A9152414}"/>
              </a:ext>
            </a:extLst>
          </p:cNvPr>
          <p:cNvSpPr>
            <a:spLocks noGrp="1"/>
          </p:cNvSpPr>
          <p:nvPr>
            <p:ph idx="1"/>
          </p:nvPr>
        </p:nvSpPr>
        <p:spPr>
          <a:xfrm>
            <a:off x="952500" y="1390009"/>
            <a:ext cx="10287000" cy="1015662"/>
          </a:xfrm>
        </p:spPr>
        <p:txBody>
          <a:bodyPr/>
          <a:lstStyle/>
          <a:p>
            <a:pPr marL="0" indent="0">
              <a:buNone/>
            </a:pPr>
            <a:r>
              <a:rPr lang="en-US" b="1" dirty="0"/>
              <a:t>General Objective</a:t>
            </a:r>
            <a:r>
              <a:rPr lang="en-US" dirty="0"/>
              <a:t> To develop a web-based classroom feedback and live polling system that enhances teaching and learning experiences through real-time student engagement and data visualization.</a:t>
            </a:r>
          </a:p>
        </p:txBody>
      </p:sp>
      <p:sp>
        <p:nvSpPr>
          <p:cNvPr id="4" name="Content Placeholder 2">
            <a:extLst>
              <a:ext uri="{FF2B5EF4-FFF2-40B4-BE49-F238E27FC236}">
                <a16:creationId xmlns:a16="http://schemas.microsoft.com/office/drawing/2014/main" id="{0C346D5F-622A-EAA6-D78A-044B32DE3373}"/>
              </a:ext>
            </a:extLst>
          </p:cNvPr>
          <p:cNvSpPr txBox="1">
            <a:spLocks/>
          </p:cNvSpPr>
          <p:nvPr/>
        </p:nvSpPr>
        <p:spPr>
          <a:xfrm>
            <a:off x="952500" y="2405671"/>
            <a:ext cx="10287000" cy="322494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Specific Objectives</a:t>
            </a:r>
          </a:p>
          <a:p>
            <a:r>
              <a:rPr lang="en-US" dirty="0"/>
              <a:t>To enable instructors to conduct live polls, quizzes, and feedback activities efficiently during classroom sessions.</a:t>
            </a:r>
          </a:p>
          <a:p>
            <a:r>
              <a:rPr lang="en-US" dirty="0"/>
              <a:t>To provide an anonymous participation channel for students to express opinions and answer questions without fear of judgment.</a:t>
            </a:r>
          </a:p>
          <a:p>
            <a:r>
              <a:rPr lang="en-US" dirty="0"/>
              <a:t>To generate instant data analytics and visualizations (charts) to help instructors gauge student understanding in real-time.</a:t>
            </a:r>
          </a:p>
          <a:p>
            <a:r>
              <a:rPr lang="en-US" dirty="0"/>
              <a:t>To reduce the time and administrative effort required for collecting and analyzing student feedback compared to traditional paper-based methods.</a:t>
            </a:r>
          </a:p>
        </p:txBody>
      </p:sp>
    </p:spTree>
    <p:extLst>
      <p:ext uri="{BB962C8B-B14F-4D97-AF65-F5344CB8AC3E}">
        <p14:creationId xmlns:p14="http://schemas.microsoft.com/office/powerpoint/2010/main" val="3601672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E9F8B3-8282-4A93-BBF8-3342538A7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3039A-B3C1-E60A-BBBC-249D615D7E32}"/>
              </a:ext>
            </a:extLst>
          </p:cNvPr>
          <p:cNvSpPr>
            <a:spLocks noGrp="1"/>
          </p:cNvSpPr>
          <p:nvPr>
            <p:ph type="title"/>
          </p:nvPr>
        </p:nvSpPr>
        <p:spPr>
          <a:xfrm>
            <a:off x="952500" y="757238"/>
            <a:ext cx="9514217" cy="1147762"/>
          </a:xfrm>
        </p:spPr>
        <p:txBody>
          <a:bodyPr>
            <a:normAutofit/>
          </a:bodyPr>
          <a:lstStyle/>
          <a:p>
            <a:r>
              <a:rPr lang="en-US"/>
              <a:t>Scope and Limitations</a:t>
            </a:r>
            <a:endParaRPr lang="en-US" dirty="0"/>
          </a:p>
        </p:txBody>
      </p:sp>
      <p:cxnSp>
        <p:nvCxnSpPr>
          <p:cNvPr id="10" name="Straight Connector 9">
            <a:extLst>
              <a:ext uri="{FF2B5EF4-FFF2-40B4-BE49-F238E27FC236}">
                <a16:creationId xmlns:a16="http://schemas.microsoft.com/office/drawing/2014/main" id="{58EFA797-975B-41D8-BC96-56CDC2CFA3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1562" y="222770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F7FD7EB-E688-22B5-7C55-CA9BA202EC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0164"/>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D8EB3E-E5B8-5E57-0062-AF3EB0C75F0B}"/>
              </a:ext>
            </a:extLst>
          </p:cNvPr>
          <p:cNvSpPr>
            <a:spLocks noGrp="1"/>
          </p:cNvSpPr>
          <p:nvPr>
            <p:ph idx="1"/>
          </p:nvPr>
        </p:nvSpPr>
        <p:spPr>
          <a:xfrm>
            <a:off x="952500" y="2547066"/>
            <a:ext cx="9467850" cy="3347388"/>
          </a:xfrm>
        </p:spPr>
        <p:txBody>
          <a:bodyPr>
            <a:normAutofit/>
          </a:bodyPr>
          <a:lstStyle/>
          <a:p>
            <a:pPr marL="0" indent="0">
              <a:lnSpc>
                <a:spcPct val="110000"/>
              </a:lnSpc>
              <a:buNone/>
            </a:pPr>
            <a:r>
              <a:rPr lang="en-US" sz="1500" b="1"/>
              <a:t>Scope of the System</a:t>
            </a:r>
            <a:r>
              <a:rPr lang="en-US" sz="1500"/>
              <a:t> The project focuses on the development of a web-based platform tailored for classroom environments. The scope includes:</a:t>
            </a:r>
          </a:p>
          <a:p>
            <a:pPr>
              <a:lnSpc>
                <a:spcPct val="110000"/>
              </a:lnSpc>
            </a:pPr>
            <a:r>
              <a:rPr lang="en-US" sz="1500" b="1"/>
              <a:t>User Roles:</a:t>
            </a:r>
            <a:r>
              <a:rPr lang="en-US" sz="1500"/>
              <a:t> The system supports Instructors (administrators of the polls) and Students (participants).</a:t>
            </a:r>
          </a:p>
          <a:p>
            <a:pPr>
              <a:lnSpc>
                <a:spcPct val="110000"/>
              </a:lnSpc>
            </a:pPr>
            <a:r>
              <a:rPr lang="en-US" sz="1500" b="1"/>
              <a:t>Core Features:</a:t>
            </a:r>
            <a:r>
              <a:rPr lang="en-US" sz="1500"/>
              <a:t> The creation of live polls and quizzes, anonymous student submission via personal devices, and the real-time visualization of data.</a:t>
            </a:r>
          </a:p>
          <a:p>
            <a:pPr>
              <a:lnSpc>
                <a:spcPct val="110000"/>
              </a:lnSpc>
            </a:pPr>
            <a:r>
              <a:rPr lang="en-US" sz="1500" b="1"/>
              <a:t>Infrastructure: </a:t>
            </a:r>
            <a:r>
              <a:rPr lang="en-US" sz="1500"/>
              <a:t>The system utilizes a cloud-based infrastructure and modular architecture to ensure accessibility.</a:t>
            </a:r>
          </a:p>
          <a:p>
            <a:pPr>
              <a:lnSpc>
                <a:spcPct val="110000"/>
              </a:lnSpc>
            </a:pPr>
            <a:r>
              <a:rPr lang="en-US" sz="1500" b="1"/>
              <a:t>Methodology:</a:t>
            </a:r>
            <a:r>
              <a:rPr lang="en-US" sz="1500"/>
              <a:t> The development follows an Agile methodology, ensuring iterative feature development and user feedback integration.</a:t>
            </a:r>
            <a:endParaRPr lang="en-US" sz="1500" b="1"/>
          </a:p>
          <a:p>
            <a:pPr>
              <a:lnSpc>
                <a:spcPct val="110000"/>
              </a:lnSpc>
            </a:pPr>
            <a:endParaRPr lang="en-US" sz="1500"/>
          </a:p>
        </p:txBody>
      </p:sp>
    </p:spTree>
    <p:extLst>
      <p:ext uri="{BB962C8B-B14F-4D97-AF65-F5344CB8AC3E}">
        <p14:creationId xmlns:p14="http://schemas.microsoft.com/office/powerpoint/2010/main" val="1855591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E4C725-CA0D-9DA1-00FB-2953044AFBE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E9F8B3-8282-4A93-BBF8-3342538A7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C9E688-FCD9-782A-FF81-480898318523}"/>
              </a:ext>
            </a:extLst>
          </p:cNvPr>
          <p:cNvSpPr>
            <a:spLocks noGrp="1"/>
          </p:cNvSpPr>
          <p:nvPr>
            <p:ph type="title"/>
          </p:nvPr>
        </p:nvSpPr>
        <p:spPr>
          <a:xfrm>
            <a:off x="952500" y="757238"/>
            <a:ext cx="9514217" cy="1147762"/>
          </a:xfrm>
        </p:spPr>
        <p:txBody>
          <a:bodyPr>
            <a:normAutofit/>
          </a:bodyPr>
          <a:lstStyle/>
          <a:p>
            <a:r>
              <a:rPr lang="en-US"/>
              <a:t>Scope and Limitations</a:t>
            </a:r>
            <a:endParaRPr lang="en-US" dirty="0"/>
          </a:p>
        </p:txBody>
      </p:sp>
      <p:cxnSp>
        <p:nvCxnSpPr>
          <p:cNvPr id="10" name="Straight Connector 9">
            <a:extLst>
              <a:ext uri="{FF2B5EF4-FFF2-40B4-BE49-F238E27FC236}">
                <a16:creationId xmlns:a16="http://schemas.microsoft.com/office/drawing/2014/main" id="{58EFA797-975B-41D8-BC96-56CDC2CFA3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1562" y="222770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F7FD7EB-E688-22B5-7C55-CA9BA202EC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0164"/>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52D52A-2C5B-F0F8-EEA9-D5D174B48F54}"/>
              </a:ext>
            </a:extLst>
          </p:cNvPr>
          <p:cNvSpPr>
            <a:spLocks noGrp="1"/>
          </p:cNvSpPr>
          <p:nvPr>
            <p:ph idx="1"/>
          </p:nvPr>
        </p:nvSpPr>
        <p:spPr>
          <a:xfrm>
            <a:off x="952500" y="2547066"/>
            <a:ext cx="9467850" cy="3347388"/>
          </a:xfrm>
        </p:spPr>
        <p:txBody>
          <a:bodyPr>
            <a:normAutofit/>
          </a:bodyPr>
          <a:lstStyle/>
          <a:p>
            <a:pPr marL="0" indent="0">
              <a:lnSpc>
                <a:spcPct val="110000"/>
              </a:lnSpc>
              <a:buNone/>
            </a:pPr>
            <a:r>
              <a:rPr lang="en-US" b="1" dirty="0"/>
              <a:t>Limitations of the System</a:t>
            </a:r>
            <a:endParaRPr lang="en-US" b="1"/>
          </a:p>
          <a:p>
            <a:pPr>
              <a:lnSpc>
                <a:spcPct val="110000"/>
              </a:lnSpc>
            </a:pPr>
            <a:r>
              <a:rPr lang="en-US" b="1" dirty="0"/>
              <a:t>Reliance on Internet Connectivity:</a:t>
            </a:r>
            <a:r>
              <a:rPr lang="en-US" dirty="0"/>
              <a:t> As a "web-based interactive platform" utilizing "cloud-based infrastructure", the system is fully dependent on a stable internet connection and cannot function offline.</a:t>
            </a:r>
            <a:endParaRPr lang="en-US"/>
          </a:p>
          <a:p>
            <a:pPr>
              <a:lnSpc>
                <a:spcPct val="110000"/>
              </a:lnSpc>
            </a:pPr>
            <a:r>
              <a:rPr lang="en-US" b="1" dirty="0"/>
              <a:t>Device Dependency:</a:t>
            </a:r>
            <a:r>
              <a:rPr lang="en-US" dirty="0"/>
              <a:t> The system requires students to have access to "personal devices" (smartphones, tablets, or laptops) to participate.</a:t>
            </a:r>
            <a:endParaRPr lang="en-US"/>
          </a:p>
          <a:p>
            <a:pPr>
              <a:lnSpc>
                <a:spcPct val="110000"/>
              </a:lnSpc>
            </a:pPr>
            <a:r>
              <a:rPr lang="en-US" b="1" dirty="0"/>
              <a:t>Initial Scope Exclusions:</a:t>
            </a:r>
            <a:r>
              <a:rPr lang="en-US" dirty="0"/>
              <a:t> While the architecture supports them for the future, the current version does not explicitly include "learning management system (LMS) integration" or "mobile application extensions" as core features upon initial release.</a:t>
            </a:r>
            <a:endParaRPr lang="en-US" b="1"/>
          </a:p>
        </p:txBody>
      </p:sp>
    </p:spTree>
    <p:extLst>
      <p:ext uri="{BB962C8B-B14F-4D97-AF65-F5344CB8AC3E}">
        <p14:creationId xmlns:p14="http://schemas.microsoft.com/office/powerpoint/2010/main" val="1260056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E9F8B3-8282-4A93-BBF8-3342538A7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4EC169-4A8B-587A-73BE-50959578004D}"/>
              </a:ext>
            </a:extLst>
          </p:cNvPr>
          <p:cNvSpPr>
            <a:spLocks noGrp="1"/>
          </p:cNvSpPr>
          <p:nvPr>
            <p:ph type="title"/>
          </p:nvPr>
        </p:nvSpPr>
        <p:spPr>
          <a:xfrm>
            <a:off x="952500" y="757238"/>
            <a:ext cx="9514217" cy="1147762"/>
          </a:xfrm>
        </p:spPr>
        <p:txBody>
          <a:bodyPr>
            <a:normAutofit/>
          </a:bodyPr>
          <a:lstStyle/>
          <a:p>
            <a:r>
              <a:rPr lang="en-US" dirty="0"/>
              <a:t>Functions of the Proposed System</a:t>
            </a:r>
          </a:p>
        </p:txBody>
      </p:sp>
      <p:cxnSp>
        <p:nvCxnSpPr>
          <p:cNvPr id="10" name="Straight Connector 9">
            <a:extLst>
              <a:ext uri="{FF2B5EF4-FFF2-40B4-BE49-F238E27FC236}">
                <a16:creationId xmlns:a16="http://schemas.microsoft.com/office/drawing/2014/main" id="{58EFA797-975B-41D8-BC96-56CDC2CFA3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1562" y="222770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F7FD7EB-E688-22B5-7C55-CA9BA202EC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0164"/>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7C2A8E5-7ABD-EBE8-6287-E38E84455E8B}"/>
              </a:ext>
            </a:extLst>
          </p:cNvPr>
          <p:cNvSpPr>
            <a:spLocks noGrp="1"/>
          </p:cNvSpPr>
          <p:nvPr>
            <p:ph idx="1"/>
          </p:nvPr>
        </p:nvSpPr>
        <p:spPr>
          <a:xfrm>
            <a:off x="952500" y="2547066"/>
            <a:ext cx="9467850" cy="3347388"/>
          </a:xfrm>
        </p:spPr>
        <p:txBody>
          <a:bodyPr>
            <a:normAutofit/>
          </a:bodyPr>
          <a:lstStyle/>
          <a:p>
            <a:pPr marL="0" indent="0">
              <a:buNone/>
            </a:pPr>
            <a:r>
              <a:rPr lang="en-US" dirty="0"/>
              <a:t>Instructor/Administrator Modules</a:t>
            </a:r>
          </a:p>
          <a:p>
            <a:r>
              <a:rPr lang="en-US" b="1" dirty="0"/>
              <a:t>Poll Management:</a:t>
            </a:r>
            <a:r>
              <a:rPr lang="en-US" dirty="0"/>
              <a:t> Allows instructors to create, customize, and launch live polls, and feedback activities for the class.</a:t>
            </a:r>
          </a:p>
          <a:p>
            <a:r>
              <a:rPr lang="en-US" b="1" dirty="0"/>
              <a:t>Real-Time Analytics Dashboard:</a:t>
            </a:r>
            <a:r>
              <a:rPr lang="en-US" dirty="0"/>
              <a:t> Automatically aggregates student responses and displays them in visual charts, enabling the instructor to assess comprehension levels instantly.</a:t>
            </a:r>
          </a:p>
          <a:p>
            <a:r>
              <a:rPr lang="en-US" b="1" dirty="0"/>
              <a:t>Instructional Adjustment Tools:</a:t>
            </a:r>
            <a:r>
              <a:rPr lang="en-US" dirty="0"/>
              <a:t> Provides actionable insights that allow the instructor to modify teaching strategies based on the immediate feedback received.</a:t>
            </a:r>
          </a:p>
        </p:txBody>
      </p:sp>
    </p:spTree>
    <p:extLst>
      <p:ext uri="{BB962C8B-B14F-4D97-AF65-F5344CB8AC3E}">
        <p14:creationId xmlns:p14="http://schemas.microsoft.com/office/powerpoint/2010/main" val="562537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60FC16-8BD8-11BB-9859-664BB165B8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E9F8B3-8282-4A93-BBF8-3342538A7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FA5060-E0A4-3E36-BA60-1D4697063566}"/>
              </a:ext>
            </a:extLst>
          </p:cNvPr>
          <p:cNvSpPr>
            <a:spLocks noGrp="1"/>
          </p:cNvSpPr>
          <p:nvPr>
            <p:ph type="title"/>
          </p:nvPr>
        </p:nvSpPr>
        <p:spPr>
          <a:xfrm>
            <a:off x="952500" y="757238"/>
            <a:ext cx="9514217" cy="1147762"/>
          </a:xfrm>
        </p:spPr>
        <p:txBody>
          <a:bodyPr>
            <a:normAutofit/>
          </a:bodyPr>
          <a:lstStyle/>
          <a:p>
            <a:r>
              <a:rPr lang="en-US" dirty="0"/>
              <a:t>Functions of the Proposed System</a:t>
            </a:r>
          </a:p>
        </p:txBody>
      </p:sp>
      <p:cxnSp>
        <p:nvCxnSpPr>
          <p:cNvPr id="10" name="Straight Connector 9">
            <a:extLst>
              <a:ext uri="{FF2B5EF4-FFF2-40B4-BE49-F238E27FC236}">
                <a16:creationId xmlns:a16="http://schemas.microsoft.com/office/drawing/2014/main" id="{58EFA797-975B-41D8-BC96-56CDC2CFA3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1562" y="222770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F7FD7EB-E688-22B5-7C55-CA9BA202EC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10164"/>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28D311-8EBB-1DB9-6626-9BA15514922A}"/>
              </a:ext>
            </a:extLst>
          </p:cNvPr>
          <p:cNvSpPr>
            <a:spLocks noGrp="1"/>
          </p:cNvSpPr>
          <p:nvPr>
            <p:ph idx="1"/>
          </p:nvPr>
        </p:nvSpPr>
        <p:spPr>
          <a:xfrm>
            <a:off x="952500" y="2547066"/>
            <a:ext cx="9467850" cy="3347388"/>
          </a:xfrm>
        </p:spPr>
        <p:txBody>
          <a:bodyPr>
            <a:normAutofit/>
          </a:bodyPr>
          <a:lstStyle/>
          <a:p>
            <a:pPr marL="0" indent="0">
              <a:buNone/>
            </a:pPr>
            <a:r>
              <a:rPr lang="en-US" dirty="0"/>
              <a:t>Student Modules</a:t>
            </a:r>
          </a:p>
          <a:p>
            <a:r>
              <a:rPr lang="en-US" b="1" dirty="0"/>
              <a:t>Anonymous Participation Interface:</a:t>
            </a:r>
            <a:r>
              <a:rPr lang="en-US" dirty="0"/>
              <a:t> A secure interface accessible via personal devices that allows students to submit answers and feedback without revealing their identity.</a:t>
            </a:r>
          </a:p>
          <a:p>
            <a:r>
              <a:rPr lang="en-US" b="1" dirty="0"/>
              <a:t>Live Interaction Session:</a:t>
            </a:r>
            <a:r>
              <a:rPr lang="en-US" dirty="0"/>
              <a:t> Enables students to join active sessions and engage with the content in real-time, removing social barriers to participation.</a:t>
            </a:r>
          </a:p>
        </p:txBody>
      </p:sp>
    </p:spTree>
    <p:extLst>
      <p:ext uri="{BB962C8B-B14F-4D97-AF65-F5344CB8AC3E}">
        <p14:creationId xmlns:p14="http://schemas.microsoft.com/office/powerpoint/2010/main" val="2161414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F891C-FFD8-638A-CEED-AE04CB9F4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6B3EB-5E48-53FD-9C96-3CFFEC8EE769}"/>
              </a:ext>
            </a:extLst>
          </p:cNvPr>
          <p:cNvSpPr>
            <a:spLocks noGrp="1"/>
          </p:cNvSpPr>
          <p:nvPr>
            <p:ph type="title"/>
          </p:nvPr>
        </p:nvSpPr>
        <p:spPr>
          <a:xfrm>
            <a:off x="952500" y="757238"/>
            <a:ext cx="9514217" cy="1147762"/>
          </a:xfrm>
        </p:spPr>
        <p:txBody>
          <a:bodyPr>
            <a:normAutofit/>
          </a:bodyPr>
          <a:lstStyle/>
          <a:p>
            <a:r>
              <a:rPr lang="en-US" dirty="0"/>
              <a:t>Functions of the Proposed System</a:t>
            </a:r>
          </a:p>
        </p:txBody>
      </p:sp>
      <p:sp>
        <p:nvSpPr>
          <p:cNvPr id="3" name="Content Placeholder 2">
            <a:extLst>
              <a:ext uri="{FF2B5EF4-FFF2-40B4-BE49-F238E27FC236}">
                <a16:creationId xmlns:a16="http://schemas.microsoft.com/office/drawing/2014/main" id="{D76B69D7-EBE4-F6E6-0FF1-729987298D48}"/>
              </a:ext>
            </a:extLst>
          </p:cNvPr>
          <p:cNvSpPr>
            <a:spLocks noGrp="1"/>
          </p:cNvSpPr>
          <p:nvPr>
            <p:ph idx="1"/>
          </p:nvPr>
        </p:nvSpPr>
        <p:spPr>
          <a:xfrm>
            <a:off x="952500" y="2547066"/>
            <a:ext cx="9467850" cy="3347388"/>
          </a:xfrm>
        </p:spPr>
        <p:txBody>
          <a:bodyPr>
            <a:normAutofit/>
          </a:bodyPr>
          <a:lstStyle/>
          <a:p>
            <a:pPr marL="0" indent="0">
              <a:buNone/>
            </a:pPr>
            <a:r>
              <a:rPr lang="en-US" dirty="0"/>
              <a:t>System/General Modules</a:t>
            </a:r>
          </a:p>
          <a:p>
            <a:r>
              <a:rPr lang="en-US" b="1" dirty="0"/>
              <a:t>Data Visualization Engine:</a:t>
            </a:r>
            <a:r>
              <a:rPr lang="en-US" dirty="0"/>
              <a:t> Converts raw user input into understandable graphical formats for immediate interpretation.</a:t>
            </a:r>
          </a:p>
          <a:p>
            <a:r>
              <a:rPr lang="en-US" b="1" dirty="0"/>
              <a:t>Cloud-Based Connectivity:</a:t>
            </a:r>
            <a:r>
              <a:rPr lang="en-US" dirty="0"/>
              <a:t> Ensures that the connection between the instructor’s interface and student devices is maintained over the internet for seamless interaction.</a:t>
            </a:r>
          </a:p>
        </p:txBody>
      </p:sp>
    </p:spTree>
    <p:extLst>
      <p:ext uri="{BB962C8B-B14F-4D97-AF65-F5344CB8AC3E}">
        <p14:creationId xmlns:p14="http://schemas.microsoft.com/office/powerpoint/2010/main" val="1725511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0BC64E-B094-49DE-BD9C-DB662FCF5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CFD166-8BC5-F78D-2960-F5A84564B0D0}"/>
              </a:ext>
            </a:extLst>
          </p:cNvPr>
          <p:cNvSpPr>
            <a:spLocks noGrp="1"/>
          </p:cNvSpPr>
          <p:nvPr>
            <p:ph type="title"/>
          </p:nvPr>
        </p:nvSpPr>
        <p:spPr>
          <a:xfrm>
            <a:off x="952500" y="723900"/>
            <a:ext cx="4417522" cy="1181100"/>
          </a:xfrm>
        </p:spPr>
        <p:txBody>
          <a:bodyPr>
            <a:normAutofit/>
          </a:bodyPr>
          <a:lstStyle/>
          <a:p>
            <a:r>
              <a:rPr lang="en-US" b="0"/>
              <a:t>task per member</a:t>
            </a:r>
            <a:endParaRPr lang="en-US"/>
          </a:p>
        </p:txBody>
      </p:sp>
      <p:sp>
        <p:nvSpPr>
          <p:cNvPr id="26" name="Rectangle 25">
            <a:extLst>
              <a:ext uri="{FF2B5EF4-FFF2-40B4-BE49-F238E27FC236}">
                <a16:creationId xmlns:a16="http://schemas.microsoft.com/office/drawing/2014/main" id="{A718E0F5-1EF3-64D6-0802-B7983AC6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37234"/>
            <a:ext cx="12192000" cy="312031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7FB0B843-4ED4-B9B6-27DB-2721110EC2F1}"/>
              </a:ext>
            </a:extLst>
          </p:cNvPr>
          <p:cNvSpPr>
            <a:spLocks noGrp="1"/>
          </p:cNvSpPr>
          <p:nvPr>
            <p:ph idx="1"/>
          </p:nvPr>
        </p:nvSpPr>
        <p:spPr>
          <a:xfrm>
            <a:off x="952500" y="2285997"/>
            <a:ext cx="4191000" cy="3890965"/>
          </a:xfrm>
        </p:spPr>
        <p:txBody>
          <a:bodyPr>
            <a:normAutofit/>
          </a:bodyPr>
          <a:lstStyle/>
          <a:p>
            <a:pPr marL="0" indent="0">
              <a:buNone/>
            </a:pPr>
            <a:r>
              <a:rPr lang="en-US" sz="1700" b="1"/>
              <a:t>Gutierrez, Jhapniel - Project Manager &amp; Support Developer</a:t>
            </a:r>
          </a:p>
          <a:p>
            <a:r>
              <a:rPr lang="en-US" sz="1700" b="1"/>
              <a:t>Management:</a:t>
            </a:r>
            <a:r>
              <a:rPr lang="en-US" sz="1700"/>
              <a:t> Leads the Team and keeps the team on schedule. Tracking Gantt Chart and Process Flowchart</a:t>
            </a:r>
          </a:p>
          <a:p>
            <a:r>
              <a:rPr lang="en-US" sz="1700" b="1"/>
              <a:t>Dev Support:</a:t>
            </a:r>
            <a:r>
              <a:rPr lang="en-US" sz="1700"/>
              <a:t> Assists in setting up the "cloud-based infrastructure" and database to support the main developer.</a:t>
            </a:r>
          </a:p>
          <a:p>
            <a:r>
              <a:rPr lang="en-US" sz="1700" b="1"/>
              <a:t>Code Review:</a:t>
            </a:r>
            <a:r>
              <a:rPr lang="en-US" sz="1700"/>
              <a:t> Reviews the code to ensure it is "maintainable" and meets the project standards.</a:t>
            </a:r>
            <a:endParaRPr lang="en-US" sz="1700" b="1"/>
          </a:p>
        </p:txBody>
      </p:sp>
      <p:pic>
        <p:nvPicPr>
          <p:cNvPr id="7" name="Graphic 6" descr="Users">
            <a:extLst>
              <a:ext uri="{FF2B5EF4-FFF2-40B4-BE49-F238E27FC236}">
                <a16:creationId xmlns:a16="http://schemas.microsoft.com/office/drawing/2014/main" id="{DF06A467-78E0-CE99-8A93-C0DBF6CFA5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0187" y="1132406"/>
            <a:ext cx="4593188" cy="4593188"/>
          </a:xfrm>
          <a:prstGeom prst="rect">
            <a:avLst/>
          </a:prstGeom>
        </p:spPr>
      </p:pic>
    </p:spTree>
    <p:extLst>
      <p:ext uri="{BB962C8B-B14F-4D97-AF65-F5344CB8AC3E}">
        <p14:creationId xmlns:p14="http://schemas.microsoft.com/office/powerpoint/2010/main" val="2149896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80640-9769-D327-381D-41D09611E094}"/>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0BC64E-B094-49DE-BD9C-DB662FCF5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A72CBD-7208-0E07-C7D7-8E0E9958AF6E}"/>
              </a:ext>
            </a:extLst>
          </p:cNvPr>
          <p:cNvSpPr>
            <a:spLocks noGrp="1"/>
          </p:cNvSpPr>
          <p:nvPr>
            <p:ph type="title"/>
          </p:nvPr>
        </p:nvSpPr>
        <p:spPr>
          <a:xfrm>
            <a:off x="952500" y="723900"/>
            <a:ext cx="4417522" cy="1181100"/>
          </a:xfrm>
        </p:spPr>
        <p:txBody>
          <a:bodyPr>
            <a:normAutofit/>
          </a:bodyPr>
          <a:lstStyle/>
          <a:p>
            <a:r>
              <a:rPr lang="en-US" b="0"/>
              <a:t>task per member</a:t>
            </a:r>
            <a:endParaRPr lang="en-US"/>
          </a:p>
        </p:txBody>
      </p:sp>
      <p:sp>
        <p:nvSpPr>
          <p:cNvPr id="26" name="Rectangle 25">
            <a:extLst>
              <a:ext uri="{FF2B5EF4-FFF2-40B4-BE49-F238E27FC236}">
                <a16:creationId xmlns:a16="http://schemas.microsoft.com/office/drawing/2014/main" id="{A718E0F5-1EF3-64D6-0802-B7983AC6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37234"/>
            <a:ext cx="12192000" cy="312031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04137E06-7F58-F1A9-76F7-92322E5767B4}"/>
              </a:ext>
            </a:extLst>
          </p:cNvPr>
          <p:cNvSpPr>
            <a:spLocks noGrp="1"/>
          </p:cNvSpPr>
          <p:nvPr>
            <p:ph idx="1"/>
          </p:nvPr>
        </p:nvSpPr>
        <p:spPr>
          <a:xfrm>
            <a:off x="952500" y="2285997"/>
            <a:ext cx="4191000" cy="3890965"/>
          </a:xfrm>
        </p:spPr>
        <p:txBody>
          <a:bodyPr>
            <a:normAutofit/>
          </a:bodyPr>
          <a:lstStyle/>
          <a:p>
            <a:pPr marL="0" indent="0">
              <a:buNone/>
            </a:pPr>
            <a:r>
              <a:rPr lang="en-US" b="1" dirty="0" err="1"/>
              <a:t>Yungod</a:t>
            </a:r>
            <a:r>
              <a:rPr lang="en-US" b="1" dirty="0"/>
              <a:t>, Kenneth – Full Stack Developer</a:t>
            </a:r>
          </a:p>
          <a:p>
            <a:r>
              <a:rPr lang="en-US" b="1" dirty="0"/>
              <a:t>Core Logic:</a:t>
            </a:r>
            <a:r>
              <a:rPr lang="en-US" dirty="0"/>
              <a:t> Builds the "interactive platform" features like live polling and feedback submission.</a:t>
            </a:r>
          </a:p>
          <a:p>
            <a:r>
              <a:rPr lang="en-US" b="1" dirty="0"/>
              <a:t>Real-Time Engine:</a:t>
            </a:r>
            <a:r>
              <a:rPr lang="en-US" dirty="0"/>
              <a:t> Develops the functionality for "instant visualization of responses" and analytics.</a:t>
            </a:r>
          </a:p>
          <a:p>
            <a:r>
              <a:rPr lang="en-US" b="1" dirty="0"/>
              <a:t>Interface:</a:t>
            </a:r>
            <a:r>
              <a:rPr lang="en-US" dirty="0"/>
              <a:t> Creates the interface for both instructors and students to ensure it is user-friendly.</a:t>
            </a:r>
            <a:endParaRPr lang="en-US" b="1" dirty="0"/>
          </a:p>
        </p:txBody>
      </p:sp>
      <p:pic>
        <p:nvPicPr>
          <p:cNvPr id="7" name="Graphic 6" descr="Users">
            <a:extLst>
              <a:ext uri="{FF2B5EF4-FFF2-40B4-BE49-F238E27FC236}">
                <a16:creationId xmlns:a16="http://schemas.microsoft.com/office/drawing/2014/main" id="{94F5AB00-8945-1961-0B96-86781459B2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0187" y="1132406"/>
            <a:ext cx="4593188" cy="4593188"/>
          </a:xfrm>
          <a:prstGeom prst="rect">
            <a:avLst/>
          </a:prstGeom>
        </p:spPr>
      </p:pic>
    </p:spTree>
    <p:extLst>
      <p:ext uri="{BB962C8B-B14F-4D97-AF65-F5344CB8AC3E}">
        <p14:creationId xmlns:p14="http://schemas.microsoft.com/office/powerpoint/2010/main" val="3232736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4E059-F92A-962E-C858-F26680B94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29B68-BD01-DD93-CB06-B7E39A147513}"/>
              </a:ext>
            </a:extLst>
          </p:cNvPr>
          <p:cNvSpPr>
            <a:spLocks noGrp="1"/>
          </p:cNvSpPr>
          <p:nvPr>
            <p:ph type="title"/>
          </p:nvPr>
        </p:nvSpPr>
        <p:spPr>
          <a:xfrm>
            <a:off x="952500" y="723900"/>
            <a:ext cx="4417522" cy="1181100"/>
          </a:xfrm>
        </p:spPr>
        <p:txBody>
          <a:bodyPr>
            <a:normAutofit/>
          </a:bodyPr>
          <a:lstStyle/>
          <a:p>
            <a:r>
              <a:rPr lang="en-US" b="0"/>
              <a:t>task per member</a:t>
            </a:r>
            <a:endParaRPr lang="en-US"/>
          </a:p>
        </p:txBody>
      </p:sp>
      <p:sp>
        <p:nvSpPr>
          <p:cNvPr id="19" name="Content Placeholder 2">
            <a:extLst>
              <a:ext uri="{FF2B5EF4-FFF2-40B4-BE49-F238E27FC236}">
                <a16:creationId xmlns:a16="http://schemas.microsoft.com/office/drawing/2014/main" id="{3F56D933-0BCA-A3C8-F09C-FE1DD364752E}"/>
              </a:ext>
            </a:extLst>
          </p:cNvPr>
          <p:cNvSpPr>
            <a:spLocks noGrp="1"/>
          </p:cNvSpPr>
          <p:nvPr>
            <p:ph idx="1"/>
          </p:nvPr>
        </p:nvSpPr>
        <p:spPr>
          <a:xfrm>
            <a:off x="952500" y="2285997"/>
            <a:ext cx="4191000" cy="3890965"/>
          </a:xfrm>
        </p:spPr>
        <p:txBody>
          <a:bodyPr>
            <a:normAutofit/>
          </a:bodyPr>
          <a:lstStyle/>
          <a:p>
            <a:pPr marL="0" indent="0">
              <a:buNone/>
            </a:pPr>
            <a:r>
              <a:rPr lang="en-US" b="1" dirty="0"/>
              <a:t>Justo, Kurt -  Tester / QA</a:t>
            </a:r>
          </a:p>
          <a:p>
            <a:r>
              <a:rPr lang="en-US" b="1" dirty="0"/>
              <a:t>Testing:</a:t>
            </a:r>
            <a:r>
              <a:rPr lang="en-US" dirty="0"/>
              <a:t> Performs "incremental feature... testing" to catch errors in the polls or analytics.</a:t>
            </a:r>
          </a:p>
          <a:p>
            <a:r>
              <a:rPr lang="en-US" b="1" dirty="0"/>
              <a:t>Simulation:</a:t>
            </a:r>
            <a:r>
              <a:rPr lang="en-US" dirty="0"/>
              <a:t> Simulates "classroom sessions" to ensure anonymity and real-time speed work correctly.</a:t>
            </a:r>
          </a:p>
          <a:p>
            <a:r>
              <a:rPr lang="en-US" b="1" dirty="0"/>
              <a:t>Performance:</a:t>
            </a:r>
            <a:r>
              <a:rPr lang="en-US" dirty="0"/>
              <a:t> Checks if the system remains stable (scalable) when many users join at once.</a:t>
            </a:r>
            <a:endParaRPr lang="en-US" b="1" dirty="0"/>
          </a:p>
        </p:txBody>
      </p:sp>
      <p:pic>
        <p:nvPicPr>
          <p:cNvPr id="7" name="Graphic 6" descr="Users">
            <a:extLst>
              <a:ext uri="{FF2B5EF4-FFF2-40B4-BE49-F238E27FC236}">
                <a16:creationId xmlns:a16="http://schemas.microsoft.com/office/drawing/2014/main" id="{0599CFDE-2F74-811D-784F-2CD36E674F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0187" y="1132406"/>
            <a:ext cx="4593188" cy="4593188"/>
          </a:xfrm>
          <a:prstGeom prst="rect">
            <a:avLst/>
          </a:prstGeom>
        </p:spPr>
      </p:pic>
    </p:spTree>
    <p:extLst>
      <p:ext uri="{BB962C8B-B14F-4D97-AF65-F5344CB8AC3E}">
        <p14:creationId xmlns:p14="http://schemas.microsoft.com/office/powerpoint/2010/main" val="1863946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38D97-7BFF-C59B-3939-F57D66D58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4C934-F40D-5273-A324-291E0D4D7E5A}"/>
              </a:ext>
            </a:extLst>
          </p:cNvPr>
          <p:cNvSpPr>
            <a:spLocks noGrp="1"/>
          </p:cNvSpPr>
          <p:nvPr>
            <p:ph type="title"/>
          </p:nvPr>
        </p:nvSpPr>
        <p:spPr>
          <a:xfrm>
            <a:off x="952500" y="723900"/>
            <a:ext cx="4417522" cy="1181100"/>
          </a:xfrm>
        </p:spPr>
        <p:txBody>
          <a:bodyPr>
            <a:normAutofit/>
          </a:bodyPr>
          <a:lstStyle/>
          <a:p>
            <a:r>
              <a:rPr lang="en-US" b="0"/>
              <a:t>task per member</a:t>
            </a:r>
            <a:endParaRPr lang="en-US"/>
          </a:p>
        </p:txBody>
      </p:sp>
      <p:sp>
        <p:nvSpPr>
          <p:cNvPr id="19" name="Content Placeholder 2">
            <a:extLst>
              <a:ext uri="{FF2B5EF4-FFF2-40B4-BE49-F238E27FC236}">
                <a16:creationId xmlns:a16="http://schemas.microsoft.com/office/drawing/2014/main" id="{D0852F19-A3F8-2BDD-4EA9-146C0E3C73A3}"/>
              </a:ext>
            </a:extLst>
          </p:cNvPr>
          <p:cNvSpPr>
            <a:spLocks noGrp="1"/>
          </p:cNvSpPr>
          <p:nvPr>
            <p:ph idx="1"/>
          </p:nvPr>
        </p:nvSpPr>
        <p:spPr>
          <a:xfrm>
            <a:off x="952500" y="2285997"/>
            <a:ext cx="4191000" cy="3890965"/>
          </a:xfrm>
        </p:spPr>
        <p:txBody>
          <a:bodyPr>
            <a:normAutofit fontScale="92500"/>
          </a:bodyPr>
          <a:lstStyle/>
          <a:p>
            <a:pPr marL="0" indent="0">
              <a:buNone/>
            </a:pPr>
            <a:r>
              <a:rPr lang="en-US" b="1" dirty="0"/>
              <a:t>Dancel, Jenny - </a:t>
            </a:r>
            <a:r>
              <a:rPr lang="fr-FR" b="1" dirty="0"/>
              <a:t>Support &amp; Documentation </a:t>
            </a:r>
            <a:r>
              <a:rPr lang="fr-FR" b="1" dirty="0" err="1"/>
              <a:t>Specialist</a:t>
            </a:r>
            <a:r>
              <a:rPr lang="fr-FR" b="1" dirty="0"/>
              <a:t> ("Support Report")</a:t>
            </a:r>
          </a:p>
          <a:p>
            <a:r>
              <a:rPr lang="en-US" b="1" dirty="0"/>
              <a:t>Documentation:</a:t>
            </a:r>
            <a:r>
              <a:rPr lang="en-US" dirty="0"/>
              <a:t> Compiles the "technical overview" and creating user manuals for instructors.</a:t>
            </a:r>
          </a:p>
          <a:p>
            <a:r>
              <a:rPr lang="en-US" b="1" dirty="0"/>
              <a:t>Reporting:</a:t>
            </a:r>
            <a:r>
              <a:rPr lang="en-US" dirty="0"/>
              <a:t> Tracks "user feedback" and reports it to the PM/Devs for refinement.</a:t>
            </a:r>
          </a:p>
          <a:p>
            <a:r>
              <a:rPr lang="en-US" b="1" dirty="0"/>
              <a:t>Deployment:</a:t>
            </a:r>
            <a:r>
              <a:rPr lang="en-US" dirty="0"/>
              <a:t> Handles the "deployment" process and prepares the final project presentation/report.</a:t>
            </a:r>
            <a:endParaRPr lang="en-US" b="1" dirty="0"/>
          </a:p>
        </p:txBody>
      </p:sp>
      <p:pic>
        <p:nvPicPr>
          <p:cNvPr id="7" name="Graphic 6" descr="Users">
            <a:extLst>
              <a:ext uri="{FF2B5EF4-FFF2-40B4-BE49-F238E27FC236}">
                <a16:creationId xmlns:a16="http://schemas.microsoft.com/office/drawing/2014/main" id="{5FF5DB9B-4BBB-1D3F-F2BC-C4C8C83D4E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0187" y="1132406"/>
            <a:ext cx="4593188" cy="4593188"/>
          </a:xfrm>
          <a:prstGeom prst="rect">
            <a:avLst/>
          </a:prstGeom>
        </p:spPr>
      </p:pic>
    </p:spTree>
    <p:extLst>
      <p:ext uri="{BB962C8B-B14F-4D97-AF65-F5344CB8AC3E}">
        <p14:creationId xmlns:p14="http://schemas.microsoft.com/office/powerpoint/2010/main" val="43027924"/>
      </p:ext>
    </p:extLst>
  </p:cSld>
  <p:clrMapOvr>
    <a:masterClrMapping/>
  </p:clrMapOvr>
</p:sld>
</file>

<file path=ppt/theme/theme1.xml><?xml version="1.0" encoding="utf-8"?>
<a:theme xmlns:a="http://schemas.openxmlformats.org/drawingml/2006/main" name="AfterglowVTI">
  <a:themeElements>
    <a:clrScheme name="Custom 7">
      <a:dk1>
        <a:sysClr val="windowText" lastClr="000000"/>
      </a:dk1>
      <a:lt1>
        <a:sysClr val="window" lastClr="FFFFFF"/>
      </a:lt1>
      <a:dk2>
        <a:srgbClr val="0A2E36"/>
      </a:dk2>
      <a:lt2>
        <a:srgbClr val="E7E6E6"/>
      </a:lt2>
      <a:accent1>
        <a:srgbClr val="188659"/>
      </a:accent1>
      <a:accent2>
        <a:srgbClr val="A3A300"/>
      </a:accent2>
      <a:accent3>
        <a:srgbClr val="00ADA8"/>
      </a:accent3>
      <a:accent4>
        <a:srgbClr val="EA0440"/>
      </a:accent4>
      <a:accent5>
        <a:srgbClr val="92278F"/>
      </a:accent5>
      <a:accent6>
        <a:srgbClr val="E15BC1"/>
      </a:accent6>
      <a:hlink>
        <a:srgbClr val="188659"/>
      </a:hlink>
      <a:folHlink>
        <a:srgbClr val="EA0440"/>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docProps/app.xml><?xml version="1.0" encoding="utf-8"?>
<Properties xmlns="http://schemas.openxmlformats.org/officeDocument/2006/extended-properties" xmlns:vt="http://schemas.openxmlformats.org/officeDocument/2006/docPropsVTypes">
  <TotalTime>53</TotalTime>
  <Words>942</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Trade Gothic Next Cond</vt:lpstr>
      <vt:lpstr>Trade Gothic Next Light</vt:lpstr>
      <vt:lpstr>AfterglowVTI</vt:lpstr>
      <vt:lpstr>Dynamic PollinG</vt:lpstr>
      <vt:lpstr>Purpose and Description of the Study</vt:lpstr>
      <vt:lpstr>Purpose and Description of the Study</vt:lpstr>
      <vt:lpstr>Objectives of the System</vt:lpstr>
      <vt:lpstr>Scope and Limitations</vt:lpstr>
      <vt:lpstr>Scope and Limitations</vt:lpstr>
      <vt:lpstr>Functions of the Proposed System</vt:lpstr>
      <vt:lpstr>Functions of the Proposed System</vt:lpstr>
      <vt:lpstr>Functions of the Proposed System</vt:lpstr>
      <vt:lpstr>task per member</vt:lpstr>
      <vt:lpstr>task per member</vt:lpstr>
      <vt:lpstr>task per member</vt:lpstr>
      <vt:lpstr>task per member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Jhapniel Gutierrez</dc:creator>
  <cp:lastModifiedBy>Jhapniel Gutierrez</cp:lastModifiedBy>
  <cp:revision>3</cp:revision>
  <dcterms:created xsi:type="dcterms:W3CDTF">2026-01-23T01:26:53Z</dcterms:created>
  <dcterms:modified xsi:type="dcterms:W3CDTF">2026-01-28T05:56:42Z</dcterms:modified>
</cp:coreProperties>
</file>